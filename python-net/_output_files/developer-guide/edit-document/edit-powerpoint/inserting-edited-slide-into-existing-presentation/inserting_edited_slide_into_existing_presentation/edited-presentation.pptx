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3-->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259" r:id="rId3"/>
    <p:sldId id="256" r:id="rId4"/>
    <p:sldId id="257" r:id="rId5"/>
    <p:sldId id="258" r:id="rId6"/>
  </p:sldIdLst>
  <p:sldSz cx="6858000" cy="9144000" type="letter"/>
  <p:notesSz cx="6858000" cy="9144000"/>
  <p:custDataLst>
    <p:tags r:id="rId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4" d="100"/>
          <a:sy n="84" d="100"/>
        </p:scale>
        <p:origin x="2916" y="102"/>
      </p:cViewPr>
      <p:guideLst>
        <p:guide orient="horz" pos="2880"/>
        <p:guide pos="2160"/>
      </p:guideLst>
    </p:cSldViewPr>
  </p:slideViewPr>
  <p:notesTextViewPr>
    <p:cViewPr>
      <p:scale>
        <a:sx n="1" d="1"/>
        <a:sy n="1" d="1"/>
      </p:scale>
      <p:origin x="0" y="0"/>
    </p:cViewPr>
  </p:notesText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theme" Target="theme/theme1.xml" /><Relationship Id="rId11"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tags" Target="tags/tag1.xml" /><Relationship Id="rId8" Type="http://schemas.openxmlformats.org/officeDocument/2006/relationships/presProps" Target="presProps.xml" /><Relationship Id="rId9" Type="http://schemas.openxmlformats.org/officeDocument/2006/relationships/viewProps" Target="viewProps.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B2E597-5806-43EA-8925-C3AD707179FD}" type="datetimeFigureOut">
              <a:rPr lang="en-US" smtClean="0"/>
              <a:t>10/21/2019</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F53439-4EAA-48F9-AEA7-8C580FC0DCC5}" type="slidenum">
              <a:rPr lang="en-US" smtClean="0"/>
              <a:t>‹#›</a:t>
            </a:fld>
            <a:endParaRPr lang="en-US"/>
          </a:p>
        </p:txBody>
      </p:sp>
    </p:spTree>
    <p:extLst>
      <p:ext uri="{BB962C8B-B14F-4D97-AF65-F5344CB8AC3E}">
        <p14:creationId val="3910176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F53439-4EAA-48F9-AEA7-8C580FC0DCC5}" type="slidenum">
              <a:rPr lang="en-US" smtClean="0"/>
              <a:t>3</a:t>
            </a:fld>
            <a:endParaRPr lang="en-US"/>
          </a:p>
        </p:txBody>
      </p:sp>
    </p:spTree>
    <p:extLst>
      <p:ext uri="{BB962C8B-B14F-4D97-AF65-F5344CB8AC3E}">
        <p14:creationId val="3647548347"/>
      </p:ext>
    </p:extLst>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F53439-4EAA-48F9-AEA7-8C580FC0DCC5}" type="slidenum">
              <a:rPr lang="en-US" smtClean="0"/>
              <a:t>4</a:t>
            </a:fld>
            <a:endParaRPr lang="en-US"/>
          </a:p>
        </p:txBody>
      </p:sp>
    </p:spTree>
    <p:extLst>
      <p:ext uri="{BB962C8B-B14F-4D97-AF65-F5344CB8AC3E}">
        <p14:creationId val="104635614"/>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p:cNvGrpSpPr/>
        <p:nvPr/>
      </p:nvGrpSpPr>
      <p:grpSpPr>
        <a:xfrm>
          <a:off x="0" y="0"/>
          <a: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1407109566"/>
      </p:ext>
    </p:extLst>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477497222"/>
      </p:ext>
    </p:extLst>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p:cNvGrpSpPr/>
        <p:nvPr/>
      </p:nvGrpSpPr>
      <p:grpSpPr>
        <a:xfrm>
          <a:off x="0" y="0"/>
          <a: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1190954742"/>
      </p:ext>
    </p:extLst>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344984F-EF0C-4270-934A-007379279656}" type="datetimeFigureOut">
              <a:rPr lang="en-US" smtClean="0"/>
              <a:t>10/21/2019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662893865"/>
      </p:ext>
    </p:extLst>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p:cNvGrpSpPr/>
        <p:nvPr/>
      </p:nvGrpSpPr>
      <p:grpSpPr>
        <a:xfrm>
          <a:off x="0" y="0"/>
          <a: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344984F-EF0C-4270-934A-007379279656}" type="datetimeFigureOut">
              <a:rPr lang="en-US" smtClean="0"/>
              <a:t>10/21/2019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949449868"/>
      </p:ext>
    </p:extLst>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44984F-EF0C-4270-934A-007379279656}" type="datetimeFigureOut">
              <a:rPr lang="en-US" smtClean="0"/>
              <a:t>10/21/2019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3007040137"/>
      </p:ext>
    </p:extLst>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3344984F-EF0C-4270-934A-007379279656}" type="datetimeFigureOut">
              <a:rPr lang="en-US" smtClean="0"/>
              <a:t>10/21/2019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991910637"/>
      </p:ext>
    </p:extLst>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p:cNvGrpSpPr/>
        <p:nvPr/>
      </p:nvGrpSpPr>
      <p:grpSpPr>
        <a:xfrm>
          <a:off x="0" y="0"/>
          <a: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44984F-EF0C-4270-934A-007379279656}" type="datetimeFigureOut">
              <a:rPr lang="en-US" smtClean="0"/>
              <a:t>10/21/2019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2821459815"/>
      </p:ext>
    </p:extLst>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p:cNvGrpSpPr/>
        <p:nvPr/>
      </p:nvGrpSpPr>
      <p:grpSpPr>
        <a:xfrm>
          <a:off x="0" y="0"/>
          <a: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44984F-EF0C-4270-934A-007379279656}" type="datetimeFigureOut">
              <a:rPr lang="en-US" smtClean="0"/>
              <a:t>10/21/2019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376199476"/>
      </p:ext>
    </p:extLst>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p:cNvGrpSpPr/>
        <p:nvPr/>
      </p:nvGrpSpPr>
      <p:grpSpPr>
        <a:xfrm>
          <a:off x="0" y="0"/>
          <a: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651915590"/>
      </p:ext>
    </p:extLst>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p:cNvGrpSpPr/>
        <p:nvPr/>
      </p:nvGrpSpPr>
      <p:grpSpPr>
        <a:xfrm>
          <a:off x="0" y="0"/>
          <a:ext cx="0" cy="0"/>
        </a:xfrm>
      </p:grpSpPr>
      <p:sp>
        <p:nvSpPr>
          <p:cNvPr id="2" name="Vertical Title 1"/>
          <p:cNvSpPr>
            <a:spLocks noGrp="1"/>
          </p:cNvSpPr>
          <p:nvPr>
            <p:ph type="title" orient="vert"/>
          </p:nvPr>
        </p:nvSpPr>
        <p:spPr>
          <a:xfrm>
            <a:off x="4972050" y="366185"/>
            <a:ext cx="154305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366185"/>
            <a:ext cx="451485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344984F-EF0C-4270-934A-007379279656}" type="datetimeFigureOut">
              <a:rPr lang="en-US" smtClean="0"/>
              <a:t>10/21/2019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63167-63E5-4B0B-997E-BE60A541A43F}" type="slidenum">
              <a:rPr lang="en-US" smtClean="0"/>
              <a:t>‹#›</a:t>
            </a:fld>
            <a:endParaRPr lang="en-US"/>
          </a:p>
        </p:txBody>
      </p:sp>
    </p:spTree>
    <p:extLst>
      <p:ext uri="{BB962C8B-B14F-4D97-AF65-F5344CB8AC3E}">
        <p14:creationId val="920265602"/>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3344984F-EF0C-4270-934A-007379279656}" type="datetimeFigureOut">
              <a:rPr lang="en-US" smtClean="0"/>
              <a:t>10/21/2019</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4DA63167-63E5-4B0B-997E-BE60A541A43F}" type="slidenum">
              <a:rPr lang="en-US" smtClean="0"/>
              <a:t>‹#›</a:t>
            </a:fld>
            <a:endParaRPr lang="en-US"/>
          </a:p>
        </p:txBody>
      </p:sp>
    </p:spTree>
    <p:extLst>
      <p:ext uri="{BB962C8B-B14F-4D97-AF65-F5344CB8AC3E}">
        <p14:creationId val="1031256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http://www.google.com/" TargetMode="External" /><Relationship Id="rId3" Type="http://schemas.openxmlformats.org/officeDocument/2006/relationships/image" Target="../media/image1.png" /><Relationship Id="rId4" Type="http://schemas.openxmlformats.org/officeDocument/2006/relationships/image" Target="../media/image2.jpeg" /><Relationship Id="rId5" Type="http://schemas.openxmlformats.org/officeDocument/2006/relationships/image" Target="../media/image3.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hyperlink" Target="http://www.google.com/" TargetMode="External" /><Relationship Id="rId3" Type="http://schemas.openxmlformats.org/officeDocument/2006/relationships/image" Target="../media/image4.png" /><Relationship Id="rId4" Type="http://schemas.openxmlformats.org/officeDocument/2006/relationships/image" Target="../media/image5.jpeg" /><Relationship Id="rId5" Type="http://schemas.openxmlformats.org/officeDocument/2006/relationships/image" Target="../media/image6.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hyperlink" Target="http://www.generiscorp.com/" TargetMode="External" /><Relationship Id="rId4" Type="http://schemas.openxmlformats.org/officeDocument/2006/relationships/image" Target="../media/image4.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hyperlink" Target="http://www.generiscorp.com/" TargetMode="External" /><Relationship Id="rId4"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TextBox 9" title=""/>
          <p:cNvSpPr/>
          <p:nvPr/>
        </p:nvSpPr>
        <p:spPr>
          <a:xfrm>
            <a:off x="2805945" y="2161401"/>
            <a:ext cx="3823455" cy="5632311"/>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l" fontAlgn="auto">
              <a:lnSpc>
                <a:spcPct val="100000"/>
              </a:lnSpc>
              <a:spcBef>
                <a:spcPct val="0"/>
              </a:spcBef>
              <a:spcAft>
                <a:spcPct val="0"/>
              </a:spcAft>
            </a:pPr>
            <a:r>
              <a:rPr sz="1200" spc="0" baseline="0">
                <a:solidFill>
                  <a:srgbClr val="000000"/>
                </a:solidFill>
                <a:highlight>
                  <a:srgbClr val="000000">
                    <a:alpha val="0"/>
                  </a:srgbClr>
                </a:highlight>
                <a:latin typeface="Calibri"/>
              </a:rPr>
              <a:t>EMC Documentum has announced the end of life of Webtop , the user interface on which FirstDoc is based.  This means companies have to upgrade to a new solution. </a:t>
            </a: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r>
              <a:rPr sz="1200" b="1" spc="0" baseline="0">
                <a:solidFill>
                  <a:srgbClr val="A6A6A6"/>
                </a:solidFill>
                <a:highlight>
                  <a:srgbClr val="000000">
                    <a:alpha val="0"/>
                  </a:srgbClr>
                </a:highlight>
                <a:latin typeface="Calibri"/>
              </a:rPr>
              <a:t>Generis  is providing an end-to-end replacement program for FirstDoc involving a combination of the Generis CARA product and services through our partner network.</a:t>
            </a: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r>
              <a:rPr sz="1200" spc="0" baseline="0">
                <a:solidFill>
                  <a:srgbClr val="000000"/>
                </a:solidFill>
                <a:highlight>
                  <a:srgbClr val="000000">
                    <a:alpha val="0"/>
                  </a:srgbClr>
                </a:highlight>
                <a:latin typeface="Calibri"/>
              </a:rPr>
              <a:t>This allows companies to ensure they maintain compliant with the latest versions of Documentum (including v7) while also being able to continue to work with a tool that provides a comprehensive business rules layer in a highly configurable manner.</a:t>
            </a: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r>
              <a:rPr sz="1200" spc="0" baseline="0">
                <a:solidFill>
                  <a:srgbClr val="000000"/>
                </a:solidFill>
                <a:highlight>
                  <a:srgbClr val="000000">
                    <a:alpha val="0"/>
                  </a:srgbClr>
                </a:highlight>
                <a:latin typeface="Calibri"/>
              </a:rPr>
              <a:t>Coupled with this, our partners are providing consultants who understand both FirstDoc and CARA from a technical and business perspective and who have developed a set of steps to help customers move smoothly through the upgrade / replacement process.</a:t>
            </a: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r>
              <a:rPr sz="1200" b="1" spc="0" baseline="0">
                <a:solidFill>
                  <a:srgbClr val="A6A6A6"/>
                </a:solidFill>
                <a:highlight>
                  <a:srgbClr val="000000">
                    <a:alpha val="0"/>
                  </a:srgbClr>
                </a:highlight>
                <a:latin typeface="Calibri"/>
              </a:rPr>
              <a:t>The replacement covers not just the Webtop UI itself but also a replacement for the FirstDoc SPX in SharePoint, through the CARA “My WidgetSpace” which has been significantly extended to ensure no loss of functionality.  The major benefit relating to SPX replacement is the removal of an additional platform in the ECM stack, which reduces complexity, cost and integration issues.</a:t>
            </a:r>
          </a:p>
        </p:txBody>
      </p:sp>
      <p:sp>
        <p:nvSpPr>
          <p:cNvPr id="5" name="TextBox 10" title=""/>
          <p:cNvSpPr/>
          <p:nvPr/>
        </p:nvSpPr>
        <p:spPr>
          <a:xfrm>
            <a:off x="152401" y="2278588"/>
            <a:ext cx="2362200" cy="6232475"/>
          </a:xfrm>
          <a:prstGeom prst="rect">
            <a:avLst/>
          </a:prstGeom>
          <a:noFill/>
          <a:ln w="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lstStyle/>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r>
              <a:rPr sz="1600" b="1" i="1" u="sng" spc="0" baseline="0">
                <a:solidFill>
                  <a:srgbClr val="FF0000"/>
                </a:solidFill>
                <a:highlight>
                  <a:srgbClr val="000000">
                    <a:alpha val="0"/>
                  </a:srgbClr>
                </a:highlight>
                <a:latin typeface="Calibri"/>
              </a:rPr>
              <a:t>New text</a:t>
            </a: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p>
          <a:p>
            <a:pPr marL="0" marR="0" indent="0" algn="l" fontAlgn="auto">
              <a:lnSpc>
                <a:spcPct val="100000"/>
              </a:lnSpc>
              <a:spcBef>
                <a:spcPct val="0"/>
              </a:spcBef>
              <a:spcAft>
                <a:spcPct val="0"/>
              </a:spcAft>
            </a:pPr>
            <a:r>
              <a:rPr sz="1400" i="1" spc="200" baseline="0">
                <a:solidFill>
                  <a:srgbClr val="002060"/>
                </a:solidFill>
                <a:highlight>
                  <a:srgbClr val="000000">
                    <a:alpha val="0"/>
                  </a:srgbClr>
                </a:highlight>
                <a:latin typeface="Calibri"/>
              </a:rPr>
              <a:t>HIGHLIGHTS</a:t>
            </a:r>
          </a:p>
          <a:p>
            <a:pPr marL="0" marR="0" indent="0" algn="l" fontAlgn="auto">
              <a:lnSpc>
                <a:spcPct val="100000"/>
              </a:lnSpc>
              <a:spcBef>
                <a:spcPct val="0"/>
              </a:spcBef>
              <a:spcAft>
                <a:spcPct val="0"/>
              </a:spcAft>
            </a:pPr>
          </a:p>
          <a:p>
            <a:pPr marL="171450" marR="0" lvl="0" indent="-171450" algn="l">
              <a:lnSpc>
                <a:spcPct val="100000"/>
              </a:lnSpc>
              <a:spcBef>
                <a:spcPct val="0"/>
              </a:spcBef>
              <a:spcAft>
                <a:spcPts val="600"/>
              </a:spcAft>
              <a:buChar char="•"/>
            </a:pPr>
            <a:r>
              <a:rPr sz="1200" i="1" spc="0" baseline="0">
                <a:solidFill>
                  <a:srgbClr val="002060"/>
                </a:solidFill>
                <a:highlight>
                  <a:srgbClr val="000000">
                    <a:alpha val="0"/>
                  </a:srgbClr>
                </a:highlight>
                <a:latin typeface="Calibri"/>
              </a:rPr>
              <a:t>Stay compliant with the latest releases of Documentum by using CARA to replace Webtop</a:t>
            </a:r>
          </a:p>
          <a:p>
            <a:pPr marL="171450" marR="0" lvl="0" indent="-171450" algn="l">
              <a:lnSpc>
                <a:spcPct val="100000"/>
              </a:lnSpc>
              <a:spcBef>
                <a:spcPct val="0"/>
              </a:spcBef>
              <a:spcAft>
                <a:spcPts val="600"/>
              </a:spcAft>
              <a:buChar char="•"/>
            </a:pPr>
            <a:r>
              <a:rPr sz="1200" i="1" spc="0" baseline="0">
                <a:solidFill>
                  <a:srgbClr val="002060"/>
                </a:solidFill>
                <a:highlight>
                  <a:srgbClr val="000000">
                    <a:alpha val="0"/>
                  </a:srgbClr>
                </a:highlight>
                <a:latin typeface="Calibri"/>
              </a:rPr>
              <a:t>Replace existing FirstDoc </a:t>
            </a:r>
            <a:r>
              <a:rPr sz="2400" i="1" spc="0" baseline="0">
                <a:solidFill>
                  <a:srgbClr val="002060"/>
                </a:solidFill>
                <a:highlight>
                  <a:srgbClr val="000000">
                    <a:alpha val="0"/>
                  </a:srgbClr>
                </a:highlight>
                <a:latin typeface="Calibri"/>
                <a:hlinkClick r:id="rId2"/>
              </a:rPr>
              <a:t>confi</a:t>
            </a:r>
            <a:r>
              <a:rPr sz="4000" i="1" spc="0" baseline="0">
                <a:solidFill>
                  <a:srgbClr val="002060"/>
                </a:solidFill>
                <a:highlight>
                  <a:srgbClr val="000000">
                    <a:alpha val="0"/>
                  </a:srgbClr>
                </a:highlight>
                <a:latin typeface="Calibri"/>
                <a:hlinkClick r:id="rId2"/>
              </a:rPr>
              <a:t>gurati</a:t>
            </a:r>
            <a:r>
              <a:rPr sz="2400" i="1" spc="0" baseline="0">
                <a:solidFill>
                  <a:srgbClr val="002060"/>
                </a:solidFill>
                <a:highlight>
                  <a:srgbClr val="000000">
                    <a:alpha val="0"/>
                  </a:srgbClr>
                </a:highlight>
                <a:latin typeface="Calibri"/>
                <a:hlinkClick r:id="rId2"/>
              </a:rPr>
              <a:t>ons</a:t>
            </a:r>
            <a:r>
              <a:rPr sz="1200" i="1" spc="0" baseline="0">
                <a:solidFill>
                  <a:srgbClr val="002060"/>
                </a:solidFill>
                <a:highlight>
                  <a:srgbClr val="000000">
                    <a:alpha val="0"/>
                  </a:srgbClr>
                </a:highlight>
                <a:latin typeface="Calibri"/>
              </a:rPr>
              <a:t> with CARA configurations</a:t>
            </a:r>
          </a:p>
          <a:p>
            <a:pPr marL="171450" marR="0" lvl="0" indent="-171450" algn="l">
              <a:lnSpc>
                <a:spcPct val="100000"/>
              </a:lnSpc>
              <a:spcBef>
                <a:spcPct val="0"/>
              </a:spcBef>
              <a:spcAft>
                <a:spcPts val="600"/>
              </a:spcAft>
              <a:buChar char="•"/>
            </a:pPr>
            <a:r>
              <a:rPr sz="1200" i="1" spc="0" baseline="0">
                <a:solidFill>
                  <a:srgbClr val="002060"/>
                </a:solidFill>
                <a:highlight>
                  <a:srgbClr val="000000">
                    <a:alpha val="0"/>
                  </a:srgbClr>
                </a:highlight>
                <a:latin typeface="Calibri"/>
              </a:rPr>
              <a:t>Keep your existing business rules but converted into CARA business rules</a:t>
            </a:r>
          </a:p>
          <a:p>
            <a:pPr marL="171450" marR="0" lvl="0" indent="-171450" algn="l">
              <a:lnSpc>
                <a:spcPct val="100000"/>
              </a:lnSpc>
              <a:spcBef>
                <a:spcPct val="0"/>
              </a:spcBef>
              <a:spcAft>
                <a:spcPts val="600"/>
              </a:spcAft>
              <a:buChar char="•"/>
            </a:pPr>
            <a:r>
              <a:rPr sz="1200" i="1" spc="0" baseline="0">
                <a:solidFill>
                  <a:srgbClr val="002060"/>
                </a:solidFill>
                <a:highlight>
                  <a:srgbClr val="000000">
                    <a:alpha val="0"/>
                  </a:srgbClr>
                </a:highlight>
                <a:latin typeface="Calibri"/>
              </a:rPr>
              <a:t>Save on your combined FirstDoc + Webtop maintenance costs with the lower cost of CARA maintenance</a:t>
            </a:r>
          </a:p>
          <a:p>
            <a:pPr marL="171450" marR="0" lvl="0" indent="-171450" algn="l">
              <a:lnSpc>
                <a:spcPct val="100000"/>
              </a:lnSpc>
              <a:spcBef>
                <a:spcPct val="0"/>
              </a:spcBef>
              <a:spcAft>
                <a:spcPts val="600"/>
              </a:spcAft>
              <a:buChar char="•"/>
            </a:pPr>
            <a:r>
              <a:rPr sz="1200" i="1" spc="0" baseline="0">
                <a:solidFill>
                  <a:srgbClr val="002060"/>
                </a:solidFill>
                <a:highlight>
                  <a:srgbClr val="000000">
                    <a:alpha val="0"/>
                  </a:srgbClr>
                </a:highlight>
                <a:latin typeface="Calibri"/>
              </a:rPr>
              <a:t>Avoid the large costs of FirstDoc version upgrades</a:t>
            </a:r>
          </a:p>
          <a:p>
            <a:pPr marL="171450" marR="0" lvl="0" indent="-171450" algn="l">
              <a:lnSpc>
                <a:spcPct val="100000"/>
              </a:lnSpc>
              <a:spcBef>
                <a:spcPct val="0"/>
              </a:spcBef>
              <a:spcAft>
                <a:spcPts val="600"/>
              </a:spcAft>
              <a:buChar char="•"/>
            </a:pPr>
            <a:r>
              <a:rPr sz="1200" i="1" spc="0" baseline="0">
                <a:solidFill>
                  <a:srgbClr val="002060"/>
                </a:solidFill>
                <a:highlight>
                  <a:srgbClr val="000000">
                    <a:alpha val="0"/>
                  </a:srgbClr>
                </a:highlight>
                <a:latin typeface="Calibri"/>
              </a:rPr>
              <a:t>Retain your business processes and work procedures through our mapping processes</a:t>
            </a:r>
          </a:p>
        </p:txBody>
      </p:sp>
      <p:pic>
        <p:nvPicPr>
          <p:cNvPr id="6" name="Picture 2" title=""/>
          <p:cNvPicPr/>
          <p:nvPr/>
        </p:nvPicPr>
        <p:blipFill>
          <a:blip r:embed="rId3"/>
          <a:stretch>
            <a:fillRect/>
          </a:stretch>
        </p:blipFill>
        <p:spPr>
          <a:xfrm>
            <a:off x="5105400" y="8520659"/>
            <a:ext cx="1752600" cy="563070"/>
          </a:xfrm>
          <a:prstGeom prst="rect">
            <a:avLst/>
          </a:prstGeom>
        </p:spPr>
      </p:pic>
      <p:sp>
        <p:nvSpPr>
          <p:cNvPr id="7" name="Rectangle 63" title=""/>
          <p:cNvSpPr/>
          <p:nvPr/>
        </p:nvSpPr>
        <p:spPr>
          <a:xfrm>
            <a:off x="2805945" y="0"/>
            <a:ext cx="4052055" cy="2002304"/>
          </a:xfrm>
          <a:prstGeom prst="rect">
            <a:avLst/>
          </a:prstGeom>
          <a:solidFill>
            <a:srgbClr val="17375E"/>
          </a:solidFill>
          <a:ln w="0">
            <a:noFill/>
          </a:ln>
        </p:spPr>
        <p:style>
          <a:lnRef idx="2">
            <a:schemeClr val="accent1">
              <a:shade val="50000"/>
            </a:schemeClr>
          </a:lnRef>
          <a:fillRef idx="1">
            <a:schemeClr val="accent1"/>
          </a:fillRef>
          <a:effectRef idx="0">
            <a:schemeClr val="accent1"/>
          </a:effectRef>
          <a:fontRef idx="minor">
            <a:schemeClr val="lt1"/>
          </a:fontRef>
        </p:style>
        <p:txBody>
          <a:bodyPr lIns="91427" tIns="45713" rIns="91427" bIns="45713" rtlCol="0" anchor="ctr"/>
          <a:lstStyle/>
          <a:p>
            <a:pPr marL="0" marR="0" indent="0" algn="l" fontAlgn="auto">
              <a:lnSpc>
                <a:spcPts val="3200"/>
              </a:lnSpc>
              <a:spcBef>
                <a:spcPct val="0"/>
              </a:spcBef>
              <a:spcAft>
                <a:spcPct val="0"/>
              </a:spcAft>
            </a:pPr>
            <a:r>
              <a:rPr sz="3200" b="1" spc="0" baseline="0">
                <a:solidFill>
                  <a:srgbClr val="FFFFFF"/>
                </a:solidFill>
                <a:highlight>
                  <a:srgbClr val="000000">
                    <a:alpha val="0"/>
                  </a:srgbClr>
                </a:highlight>
                <a:latin typeface="inherit"/>
              </a:rPr>
              <a:t>Replace FirstDoc</a:t>
            </a:r>
            <a:r>
              <a:rPr sz="3200" b="1" spc="0" baseline="0">
                <a:solidFill>
                  <a:srgbClr val="FFFFFF"/>
                </a:solidFill>
                <a:highlight>
                  <a:srgbClr val="000000">
                    <a:alpha val="0"/>
                  </a:srgbClr>
                </a:highlight>
                <a:latin typeface="inherit"/>
              </a:rPr>
              <a:t>with CARA</a:t>
            </a:r>
          </a:p>
          <a:p>
            <a:pPr marL="0" marR="0" indent="0" algn="l" fontAlgn="auto">
              <a:lnSpc>
                <a:spcPts val="3200"/>
              </a:lnSpc>
              <a:spcBef>
                <a:spcPct val="0"/>
              </a:spcBef>
              <a:spcAft>
                <a:spcPct val="0"/>
              </a:spcAft>
            </a:pPr>
          </a:p>
          <a:p>
            <a:pPr marL="0" marR="0" indent="0" algn="l" fontAlgn="auto">
              <a:lnSpc>
                <a:spcPts val="3200"/>
              </a:lnSpc>
              <a:spcBef>
                <a:spcPct val="0"/>
              </a:spcBef>
              <a:spcAft>
                <a:spcPct val="0"/>
              </a:spcAft>
            </a:pPr>
            <a:r>
              <a:rPr sz="1800" b="1" i="1" spc="0" baseline="0">
                <a:solidFill>
                  <a:srgbClr val="FFFFFF"/>
                </a:solidFill>
                <a:highlight>
                  <a:srgbClr val="000000">
                    <a:alpha val="0"/>
                  </a:srgbClr>
                </a:highlight>
                <a:latin typeface="inherit"/>
              </a:rPr>
              <a:t>Maintain your business rules</a:t>
            </a:r>
            <a:r>
              <a:rPr sz="1800" b="1" i="1" spc="0" baseline="0">
                <a:solidFill>
                  <a:srgbClr val="FFFFFF"/>
                </a:solidFill>
                <a:highlight>
                  <a:srgbClr val="000000">
                    <a:alpha val="0"/>
                  </a:srgbClr>
                </a:highlight>
                <a:latin typeface="inherit"/>
              </a:rPr>
              <a:t>and ensure ongoing compliance</a:t>
            </a:r>
          </a:p>
        </p:txBody>
      </p:sp>
      <p:pic>
        <p:nvPicPr>
          <p:cNvPr id="8" name="Picture 8" title=""/>
          <p:cNvPicPr/>
          <p:nvPr/>
        </p:nvPicPr>
        <p:blipFill>
          <a:blip r:embed="rId4"/>
          <a:stretch>
            <a:fillRect/>
          </a:stretch>
        </p:blipFill>
        <p:spPr>
          <a:xfrm>
            <a:off x="-10633" y="0"/>
            <a:ext cx="2816578" cy="2002304"/>
          </a:xfrm>
          <a:prstGeom prst="rect">
            <a:avLst/>
          </a:prstGeom>
        </p:spPr>
      </p:pic>
      <p:pic>
        <p:nvPicPr>
          <p:cNvPr id="9" name="Picture 2" title=""/>
          <p:cNvPicPr/>
          <p:nvPr/>
        </p:nvPicPr>
        <p:blipFill>
          <a:blip r:embed="rId5"/>
          <a:stretch>
            <a:fillRect/>
          </a:stretch>
        </p:blipFill>
        <p:spPr>
          <a:xfrm>
            <a:off x="152401" y="2133600"/>
            <a:ext cx="2057399" cy="586277"/>
          </a:xfrm>
          <a:prstGeom prst="rect">
            <a:avLst/>
          </a:prstGeom>
        </p:spPr>
      </p:pic>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10" name="TextBox 9"/>
          <p:cNvSpPr txBox="1"/>
          <p:nvPr/>
        </p:nvSpPr>
        <p:spPr>
          <a:xfrm>
            <a:off x="2805945" y="2161401"/>
            <a:ext cx="3823455" cy="5632311"/>
          </a:xfrm>
          <a:prstGeom prst="rect">
            <a:avLst/>
          </a:prstGeom>
          <a:noFill/>
        </p:spPr>
        <p:txBody>
          <a:bodyPr wrap="square" rtlCol="0">
            <a:spAutoFit/>
          </a:bodyPr>
          <a:lstStyle/>
          <a:p>
            <a:r>
              <a:rPr lang="en-US" sz="1200"/>
              <a:t>EMC Documentum has announced the end of life of Webtop , the user interface on which FirstDoc is based.  This means companies have to upgrade to a new solution. </a:t>
            </a:r>
          </a:p>
          <a:p>
            <a:endParaRPr lang="en-US" sz="1200"/>
          </a:p>
          <a:p>
            <a:pPr marL="225425"/>
            <a:r>
              <a:rPr lang="en-US" sz="1200" b="1">
                <a:solidFill>
                  <a:schemeClr val="bg1">
                    <a:lumMod val="65000"/>
                  </a:schemeClr>
                </a:solidFill>
              </a:rPr>
              <a:t>Generis  is providing an end-to-end replacement program for FirstDoc involving a combination of the Generis CARA product and services through our partner network.</a:t>
            </a:r>
          </a:p>
          <a:p>
            <a:endParaRPr lang="en-US" sz="1200"/>
          </a:p>
          <a:p>
            <a:r>
              <a:rPr lang="en-US" sz="1200"/>
              <a:t>This allows companies to ensure they maintain compliant with the latest versions of Documentum (including v7) while also being able to continue to work with a tool that provides a comprehensive business rules layer in a highly configurable manner.</a:t>
            </a:r>
          </a:p>
          <a:p>
            <a:endParaRPr lang="en-US" sz="1200"/>
          </a:p>
          <a:p>
            <a:r>
              <a:rPr lang="en-US" sz="1200"/>
              <a:t>Coupled with this, our partners are providing consultants who understand both FirstDoc and CARA from a technical and business perspective and who have developed a set of steps to help customers move smoothly through the upgrade / replacement process.</a:t>
            </a:r>
          </a:p>
          <a:p>
            <a:endParaRPr lang="en-US" sz="1200"/>
          </a:p>
          <a:p>
            <a:pPr marL="225425"/>
            <a:r>
              <a:rPr lang="en-US" sz="1200" b="1">
                <a:solidFill>
                  <a:schemeClr val="bg1">
                    <a:lumMod val="65000"/>
                  </a:schemeClr>
                </a:solidFill>
              </a:rPr>
              <a:t>The replacement covers not just the Webtop UI itself but also a replacement for the FirstDoc SPX in SharePoint, through the CARA “My WidgetSpace” which has been significantly extended to ensure no loss of functionality.  The major benefit relating to SPX replacement is the removal of an additional platform in the ECM stack, which reduces complexity, cost and integration issues.</a:t>
            </a:r>
          </a:p>
        </p:txBody>
      </p:sp>
      <p:sp>
        <p:nvSpPr>
          <p:cNvPr id="11" name="TextBox 10"/>
          <p:cNvSpPr txBox="1"/>
          <p:nvPr/>
        </p:nvSpPr>
        <p:spPr>
          <a:xfrm>
            <a:off x="152401" y="2278588"/>
            <a:ext cx="2362200" cy="6232475"/>
          </a:xfrm>
          <a:prstGeom prst="rect">
            <a:avLst/>
          </a:prstGeom>
          <a:noFill/>
        </p:spPr>
        <p:txBody>
          <a:bodyPr wrap="square" rtlCol="0">
            <a:spAutoFit/>
          </a:bodyPr>
          <a:lstStyle/>
          <a:p>
            <a:endParaRPr lang="en-US" sz="1200" i="1">
              <a:solidFill>
                <a:srgbClr val="002060"/>
              </a:solidFill>
            </a:endParaRPr>
          </a:p>
          <a:p>
            <a:endParaRPr lang="en-US" sz="1200" i="1">
              <a:solidFill>
                <a:srgbClr val="002060"/>
              </a:solidFill>
            </a:endParaRPr>
          </a:p>
          <a:p>
            <a:endParaRPr lang="en-US" sz="1600" b="1" i="1" u="sng">
              <a:solidFill>
                <a:srgbClr val="FF0000"/>
              </a:solidFill>
            </a:endParaRPr>
          </a:p>
          <a:p>
            <a:r>
              <a:rPr lang="en-US" sz="1600" b="1" i="1" u="sng">
                <a:solidFill>
                  <a:srgbClr val="FF0000"/>
                </a:solidFill>
              </a:rPr>
              <a:t>New text</a:t>
            </a:r>
            <a:endParaRPr lang="en-US" sz="1200" b="1" i="1" u="sng">
              <a:solidFill>
                <a:srgbClr val="FF0000"/>
              </a:solidFill>
            </a:endParaRPr>
          </a:p>
          <a:p>
            <a:endParaRPr lang="en-US" sz="1200" i="1">
              <a:solidFill>
                <a:srgbClr val="002060"/>
              </a:solidFill>
            </a:endParaRPr>
          </a:p>
          <a:p>
            <a:endParaRPr lang="en-US" sz="1200" i="1">
              <a:solidFill>
                <a:srgbClr val="002060"/>
              </a:solidFill>
            </a:endParaRPr>
          </a:p>
          <a:p>
            <a:endParaRPr lang="en-US" sz="1200" i="1">
              <a:solidFill>
                <a:srgbClr val="002060"/>
              </a:solidFill>
            </a:endParaRPr>
          </a:p>
          <a:p>
            <a:r>
              <a:rPr lang="en-US" sz="1400" i="1" spc="200">
                <a:solidFill>
                  <a:srgbClr val="002060"/>
                </a:solidFill>
              </a:rPr>
              <a:t>HIGHLIGHTS</a:t>
            </a:r>
            <a:endParaRPr lang="en-US" sz="1200" i="1" spc="200">
              <a:solidFill>
                <a:srgbClr val="002060"/>
              </a:solidFill>
            </a:endParaRPr>
          </a:p>
          <a:p>
            <a:endParaRPr lang="en-US" sz="1200" i="1">
              <a:solidFill>
                <a:srgbClr val="002060"/>
              </a:solidFill>
            </a:endParaRPr>
          </a:p>
          <a:p>
            <a:pPr marL="171450" indent="-171450">
              <a:spcAft>
                <a:spcPts val="600"/>
              </a:spcAft>
              <a:buFont typeface="Arial" pitchFamily="34" charset="0"/>
              <a:buChar char="•"/>
            </a:pPr>
            <a:r>
              <a:rPr lang="en-US" sz="1200" i="1">
                <a:solidFill>
                  <a:srgbClr val="002060"/>
                </a:solidFill>
              </a:rPr>
              <a:t>Stay compliant with the latest releases of Documentum by using CARA to replace Webtop</a:t>
            </a:r>
            <a:endParaRPr lang="en-US" sz="1200" i="1">
              <a:solidFill>
                <a:srgbClr val="002060"/>
              </a:solidFill>
            </a:endParaRPr>
          </a:p>
          <a:p>
            <a:pPr marL="171450" indent="-171450">
              <a:spcAft>
                <a:spcPts val="600"/>
              </a:spcAft>
              <a:buFont typeface="Arial" pitchFamily="34" charset="0"/>
              <a:buChar char="•"/>
            </a:pPr>
            <a:r>
              <a:rPr lang="en-US" sz="1200" i="1">
                <a:solidFill>
                  <a:srgbClr val="002060"/>
                </a:solidFill>
              </a:rPr>
              <a:t>Replace existing FirstDoc </a:t>
            </a:r>
            <a:r>
              <a:rPr lang="en-US" sz="2400" i="1">
                <a:solidFill>
                  <a:srgbClr val="002060"/>
                </a:solidFill>
                <a:hlinkClick r:id="rId2"/>
              </a:rPr>
              <a:t>confi</a:t>
            </a:r>
            <a:r>
              <a:rPr lang="en-US" sz="4000" i="1">
                <a:solidFill>
                  <a:srgbClr val="002060"/>
                </a:solidFill>
                <a:hlinkClick r:id="rId2"/>
              </a:rPr>
              <a:t>gurati</a:t>
            </a:r>
            <a:r>
              <a:rPr lang="en-US" sz="2400" i="1">
                <a:solidFill>
                  <a:srgbClr val="002060"/>
                </a:solidFill>
                <a:hlinkClick r:id="rId2"/>
              </a:rPr>
              <a:t>ons</a:t>
            </a:r>
            <a:r>
              <a:rPr lang="en-US" sz="1200" i="1">
                <a:solidFill>
                  <a:srgbClr val="002060"/>
                </a:solidFill>
              </a:rPr>
              <a:t> with CARA configurations</a:t>
            </a:r>
          </a:p>
          <a:p>
            <a:pPr marL="171450" indent="-171450">
              <a:spcAft>
                <a:spcPts val="600"/>
              </a:spcAft>
              <a:buFont typeface="Arial" pitchFamily="34" charset="0"/>
              <a:buChar char="•"/>
            </a:pPr>
            <a:r>
              <a:rPr lang="en-US" sz="1200" i="1">
                <a:solidFill>
                  <a:srgbClr val="002060"/>
                </a:solidFill>
              </a:rPr>
              <a:t>Keep your existing business rules but converted into CARA business rules</a:t>
            </a:r>
          </a:p>
          <a:p>
            <a:pPr marL="171450" indent="-171450">
              <a:spcAft>
                <a:spcPts val="600"/>
              </a:spcAft>
              <a:buFont typeface="Arial" pitchFamily="34" charset="0"/>
              <a:buChar char="•"/>
            </a:pPr>
            <a:r>
              <a:rPr lang="en-US" sz="1200" i="1">
                <a:solidFill>
                  <a:srgbClr val="002060"/>
                </a:solidFill>
              </a:rPr>
              <a:t>Save on your combined FirstDoc + Webtop maintenance costs with the lower cost of CARA maintenance</a:t>
            </a:r>
          </a:p>
          <a:p>
            <a:pPr marL="171450" indent="-171450">
              <a:spcAft>
                <a:spcPts val="600"/>
              </a:spcAft>
              <a:buFont typeface="Arial" pitchFamily="34" charset="0"/>
              <a:buChar char="•"/>
            </a:pPr>
            <a:r>
              <a:rPr lang="en-US" sz="1200" i="1">
                <a:solidFill>
                  <a:srgbClr val="002060"/>
                </a:solidFill>
              </a:rPr>
              <a:t>Avoid the large costs of FirstDoc version upgrades</a:t>
            </a:r>
          </a:p>
          <a:p>
            <a:pPr marL="171450" indent="-171450">
              <a:spcAft>
                <a:spcPts val="600"/>
              </a:spcAft>
              <a:buFont typeface="Arial" pitchFamily="34" charset="0"/>
              <a:buChar char="•"/>
            </a:pPr>
            <a:r>
              <a:rPr lang="en-US" sz="1200" i="1">
                <a:solidFill>
                  <a:srgbClr val="002060"/>
                </a:solidFill>
              </a:rPr>
              <a:t>Retain your business processes and work procedures through our mapping processes</a:t>
            </a:r>
          </a:p>
        </p:txBody>
      </p:sp>
      <p:pic>
        <p:nvPicPr>
          <p:cNvPr id="12" name="Picture 2" descr="C:\Documents and Settings\Toni\My Documents\Generis 0201\admin\logo-Jan2011\Generis 2011 logo.png"/>
          <p:cNvPicPr>
            <a:picLocks noChangeAspect="1" noChangeArrowheads="1"/>
          </p:cNvPicPr>
          <p:nvPr/>
        </p:nvPicPr>
        <p:blipFill>
          <a:blip r:embed="rId3"/>
          <a:srcRect t="10985" r="8463" b="24966"/>
          <a:stretch>
            <a:fillRect/>
          </a:stretch>
        </p:blipFill>
        <p:spPr bwMode="auto">
          <a:xfrm>
            <a:off x="5105400" y="8520659"/>
            <a:ext cx="1752600" cy="563070"/>
          </a:xfrm>
          <a:prstGeom prst="rect">
            <a:avLst/>
          </a:prstGeom>
          <a:noFill/>
        </p:spPr>
      </p:pic>
      <p:sp>
        <p:nvSpPr>
          <p:cNvPr id="8" name="Rectangle 63"/>
          <p:cNvSpPr>
            <a:spLocks noChangeArrowheads="1"/>
          </p:cNvSpPr>
          <p:nvPr/>
        </p:nvSpPr>
        <p:spPr bwMode="gray">
          <a:xfrm>
            <a:off x="2805945" y="0"/>
            <a:ext cx="4052055" cy="2002304"/>
          </a:xfrm>
          <a:prstGeom prst="rect">
            <a:avLst/>
          </a:prstGeom>
          <a:solidFill>
            <a:schemeClr val="tx2">
              <a:lumMod val="75000"/>
            </a:schemeClr>
          </a:solidFill>
          <a:ln w="9525">
            <a:noFill/>
            <a:miter lim="800000"/>
          </a:ln>
          <a:effectLst/>
        </p:spPr>
        <p:txBody>
          <a:bodyPr wrap="none" lIns="91427" tIns="45713" rIns="91427" bIns="45713" anchor="ctr"/>
          <a:lstStyle/>
          <a:p>
            <a:pPr>
              <a:lnSpc>
                <a:spcPts val="3200"/>
              </a:lnSpc>
            </a:pPr>
            <a:r>
              <a:rPr lang="en-US" sz="3200" b="1">
                <a:solidFill>
                  <a:schemeClr val="bg1"/>
                </a:solidFill>
              </a:rPr>
              <a:t>Replace FirstDoc</a:t>
            </a:r>
            <a:br>
              <a:rPr lang="en-US" sz="3200" b="1">
                <a:solidFill>
                  <a:schemeClr val="bg1"/>
                </a:solidFill>
              </a:rPr>
            </a:br>
            <a:r>
              <a:rPr lang="en-US" sz="3200" b="1">
                <a:solidFill>
                  <a:schemeClr val="bg1"/>
                </a:solidFill>
              </a:rPr>
              <a:t>with CARA</a:t>
            </a:r>
          </a:p>
          <a:p>
            <a:endParaRPr lang="en-US" b="1">
              <a:solidFill>
                <a:schemeClr val="bg1"/>
              </a:solidFill>
            </a:endParaRPr>
          </a:p>
          <a:p>
            <a:r>
              <a:rPr lang="en-US" b="1" i="1">
                <a:solidFill>
                  <a:schemeClr val="bg1"/>
                </a:solidFill>
              </a:rPr>
              <a:t>Maintain your business rules</a:t>
            </a:r>
            <a:br>
              <a:rPr lang="en-US" b="1" i="1">
                <a:solidFill>
                  <a:schemeClr val="bg1"/>
                </a:solidFill>
              </a:rPr>
            </a:br>
            <a:r>
              <a:rPr lang="en-US" b="1" i="1">
                <a:solidFill>
                  <a:schemeClr val="bg1"/>
                </a:solidFill>
              </a:rPr>
              <a:t>and ensure ongoing compliance</a:t>
            </a:r>
          </a:p>
        </p:txBody>
      </p:sp>
      <p:pic>
        <p:nvPicPr>
          <p:cNvPr id="9" name="Picture 8" descr="C:\Users\kellehjm\Downloads\shutterstock_64058596 - Copy.jpg"/>
          <p:cNvPicPr>
            <a:picLocks noChangeAspect="1" noChangeArrowheads="1"/>
          </p:cNvPicPr>
          <p:nvPr/>
        </p:nvPicPr>
        <p:blipFill>
          <a:blip r:embed="rId4">
            <a:extLst>
              <a:ext uri="{28A0092B-C50C-407E-A947-70E740481C1C}">
                <a14:useLocalDpi xmlns:a14="http://schemas.microsoft.com/office/drawing/2010/main" val="0"/>
              </a:ext>
            </a:extLst>
          </a:blip>
          <a:srcRect l="15585"/>
          <a:stretch>
            <a:fillRect/>
          </a:stretch>
        </p:blipFill>
        <p:spPr bwMode="auto">
          <a:xfrm>
            <a:off x="-10633" y="0"/>
            <a:ext cx="2816578" cy="20023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C:\JK\Products\CARA\web\CARA Web 3.0\DOCUMENTATION - Documentum\Logos\2012 redone\CARA selected logo.png"/>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52401" y="2133600"/>
            <a:ext cx="2057399" cy="586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val="1257542923"/>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1" name=""/>
        <p:cNvGrpSpPr/>
        <p:nvPr/>
      </p:nvGrpSpPr>
      <p:grpSpPr>
        <a:xfrm>
          <a:off x="0" y="0"/>
          <a:ext cx="0" cy="0"/>
        </a:xfrm>
      </p:grpSpPr>
      <p:sp>
        <p:nvSpPr>
          <p:cNvPr id="2" name="TextBox 1"/>
          <p:cNvSpPr txBox="1"/>
          <p:nvPr/>
        </p:nvSpPr>
        <p:spPr>
          <a:xfrm>
            <a:off x="2805945" y="685800"/>
            <a:ext cx="3823455" cy="1415772"/>
          </a:xfrm>
          <a:prstGeom prst="rect">
            <a:avLst/>
          </a:prstGeom>
          <a:noFill/>
        </p:spPr>
        <p:txBody>
          <a:bodyPr wrap="square" rtlCol="0">
            <a:spAutoFit/>
          </a:bodyPr>
          <a:lstStyle/>
          <a:p>
            <a:r>
              <a:rPr lang="en-US" sz="1400" b="1" spc="300"/>
              <a:t>STEPS</a:t>
            </a:r>
          </a:p>
          <a:p>
            <a:endParaRPr lang="en-US" sz="1200"/>
          </a:p>
          <a:p>
            <a:r>
              <a:rPr lang="en-US" sz="1200"/>
              <a:t>We work with the customer to identify any customizations made to FirstDoc which need to be migrated, as well as undertaking a mapping of the existing business rules (e.g. folder paths, security and so on) to CARA.  The major areas of upgrade involved are:</a:t>
            </a:r>
          </a:p>
        </p:txBody>
      </p:sp>
      <p:sp>
        <p:nvSpPr>
          <p:cNvPr id="4" name="Rectangle 63"/>
          <p:cNvSpPr>
            <a:spLocks noChangeArrowheads="1"/>
          </p:cNvSpPr>
          <p:nvPr/>
        </p:nvSpPr>
        <p:spPr bwMode="gray">
          <a:xfrm>
            <a:off x="0" y="0"/>
            <a:ext cx="6857999" cy="533400"/>
          </a:xfrm>
          <a:prstGeom prst="rect">
            <a:avLst/>
          </a:prstGeom>
          <a:solidFill>
            <a:schemeClr val="tx2">
              <a:lumMod val="75000"/>
            </a:schemeClr>
          </a:solidFill>
          <a:ln w="9525">
            <a:noFill/>
            <a:miter lim="800000"/>
          </a:ln>
          <a:effectLst/>
        </p:spPr>
        <p:txBody>
          <a:bodyPr wrap="none" lIns="91427" tIns="45713" rIns="91427" bIns="45713" anchor="ctr"/>
          <a:lstStyle/>
          <a:p>
            <a:pPr algn="r">
              <a:lnSpc>
                <a:spcPts val="3200"/>
              </a:lnSpc>
            </a:pPr>
            <a:r>
              <a:rPr lang="en-US" sz="2600" b="1">
                <a:solidFill>
                  <a:schemeClr val="bg1"/>
                </a:solidFill>
              </a:rPr>
              <a:t>HIDEN SLIDE  </a:t>
            </a:r>
          </a:p>
        </p:txBody>
      </p:sp>
      <p:sp>
        <p:nvSpPr>
          <p:cNvPr id="3" name="TextBox 2"/>
          <p:cNvSpPr txBox="1"/>
          <p:nvPr/>
        </p:nvSpPr>
        <p:spPr>
          <a:xfrm>
            <a:off x="160868" y="1302020"/>
            <a:ext cx="2362200" cy="6724918"/>
          </a:xfrm>
          <a:prstGeom prst="rect">
            <a:avLst/>
          </a:prstGeom>
          <a:noFill/>
        </p:spPr>
        <p:txBody>
          <a:bodyPr wrap="square" rtlCol="0">
            <a:spAutoFit/>
          </a:bodyPr>
          <a:lstStyle/>
          <a:p>
            <a:r>
              <a:rPr lang="en-US" sz="1100" i="1">
                <a:solidFill>
                  <a:srgbClr val="002060"/>
                </a:solidFill>
              </a:rPr>
              <a:t>Generis has been providing leading-edge software for content management systems including Documentum, SharePoint, Alfresco and Oracle WebCenter since 1997.  The company has nearly 50 customers across industries from Government, through Life Sciences and Engineering to Media, Publishing and Financial.  The company is headquartered in Princeton, NJ, and has its principal development centers in Europe. </a:t>
            </a:r>
          </a:p>
          <a:p>
            <a:endParaRPr lang="en-US" sz="1100" i="1">
              <a:solidFill>
                <a:srgbClr val="002060"/>
              </a:solidFill>
            </a:endParaRPr>
          </a:p>
          <a:p>
            <a:r>
              <a:rPr lang="en-US" sz="1100" i="1">
                <a:solidFill>
                  <a:srgbClr val="002060"/>
                </a:solidFill>
              </a:rPr>
              <a:t>In addition to the market-leading CARA user interface, Generis also provides a number of add-on modules:</a:t>
            </a:r>
          </a:p>
          <a:p>
            <a:endParaRPr lang="en-US" sz="1100" i="1">
              <a:solidFill>
                <a:srgbClr val="002060"/>
              </a:solidFill>
            </a:endParaRPr>
          </a:p>
          <a:p>
            <a:r>
              <a:rPr lang="en-US" sz="1100" i="1">
                <a:solidFill>
                  <a:srgbClr val="002060"/>
                </a:solidFill>
              </a:rPr>
              <a:t>DocSecure to handle watermarking, eSignature, and controlled printing</a:t>
            </a:r>
          </a:p>
          <a:p>
            <a:endParaRPr lang="en-US" sz="1100" i="1">
              <a:solidFill>
                <a:srgbClr val="002060"/>
              </a:solidFill>
            </a:endParaRPr>
          </a:p>
          <a:p>
            <a:r>
              <a:rPr lang="en-US" sz="1100" i="1" err="1">
                <a:solidFill>
                  <a:srgbClr val="002060"/>
                </a:solidFill>
              </a:rPr>
              <a:t>DocPublisher to publish multiple PDFs into a single PDF</a:t>
            </a:r>
          </a:p>
          <a:p>
            <a:endParaRPr lang="en-US" sz="1100" i="1">
              <a:solidFill>
                <a:srgbClr val="002060"/>
              </a:solidFill>
            </a:endParaRPr>
          </a:p>
          <a:p>
            <a:r>
              <a:rPr lang="en-US" sz="1100" i="1" err="1">
                <a:solidFill>
                  <a:srgbClr val="002060"/>
                </a:solidFill>
              </a:rPr>
              <a:t>DocLink to provide hyperlinking support in Documentum </a:t>
            </a:r>
          </a:p>
          <a:p>
            <a:endParaRPr lang="en-US" sz="1100" i="1">
              <a:solidFill>
                <a:srgbClr val="002060"/>
              </a:solidFill>
            </a:endParaRPr>
          </a:p>
          <a:p>
            <a:r>
              <a:rPr lang="en-US" sz="1100" i="1">
                <a:solidFill>
                  <a:srgbClr val="002060"/>
                </a:solidFill>
              </a:rPr>
              <a:t>Migration Tools and BatchPorter for data migration and batch import / export</a:t>
            </a:r>
          </a:p>
          <a:p>
            <a:endParaRPr lang="en-US" sz="1100" i="1">
              <a:solidFill>
                <a:srgbClr val="002060"/>
              </a:solidFill>
            </a:endParaRPr>
          </a:p>
          <a:p>
            <a:r>
              <a:rPr lang="en-US" sz="1100" i="1">
                <a:solidFill>
                  <a:srgbClr val="002060"/>
                </a:solidFill>
              </a:rPr>
              <a:t>Integrations with publishing tools from CSC / ISI, Liquent.</a:t>
            </a:r>
          </a:p>
          <a:p>
            <a:endParaRPr lang="en-US" sz="1100" i="1">
              <a:solidFill>
                <a:srgbClr val="002060"/>
              </a:solidFill>
            </a:endParaRPr>
          </a:p>
          <a:p>
            <a:r>
              <a:rPr lang="en-US" sz="1100" i="1">
                <a:solidFill>
                  <a:srgbClr val="002060"/>
                </a:solidFill>
              </a:rPr>
              <a:t>Integrations with multiple CTMS systems and multiple registration tracking and submission tracking and management systems.</a:t>
            </a:r>
          </a:p>
          <a:p>
            <a:endParaRPr lang="en-US" sz="1200"/>
          </a:p>
          <a:p>
            <a:r>
              <a:rPr lang="en-US" sz="1200">
                <a:hlinkClick r:id="rId3"/>
              </a:rPr>
              <a:t>www.generiscorp.com</a:t>
            </a:r>
            <a:r>
              <a:rPr lang="en-US" sz="1200"/>
              <a:t> </a:t>
            </a:r>
          </a:p>
        </p:txBody>
      </p:sp>
      <p:pic>
        <p:nvPicPr>
          <p:cNvPr id="5" name="Picture 2" descr="C:\Documents and Settings\Toni\My Documents\Generis 0201\admin\logo-Jan2011\Generis 2011 logo.png"/>
          <p:cNvPicPr>
            <a:picLocks noChangeAspect="1" noChangeArrowheads="1"/>
          </p:cNvPicPr>
          <p:nvPr/>
        </p:nvPicPr>
        <p:blipFill>
          <a:blip r:embed="rId4"/>
          <a:srcRect t="10985" r="8463" b="24966"/>
          <a:stretch>
            <a:fillRect/>
          </a:stretch>
        </p:blipFill>
        <p:spPr bwMode="auto">
          <a:xfrm>
            <a:off x="228600" y="703719"/>
            <a:ext cx="1371600" cy="440663"/>
          </a:xfrm>
          <a:prstGeom prst="rect">
            <a:avLst/>
          </a:prstGeom>
          <a:noFill/>
        </p:spPr>
      </p:pic>
      <p:sp>
        <p:nvSpPr>
          <p:cNvPr id="27" name="TextBox 26"/>
          <p:cNvSpPr txBox="1"/>
          <p:nvPr/>
        </p:nvSpPr>
        <p:spPr>
          <a:xfrm>
            <a:off x="152400" y="8839200"/>
            <a:ext cx="6468532" cy="276999"/>
          </a:xfrm>
          <a:prstGeom prst="rect">
            <a:avLst/>
          </a:prstGeom>
          <a:noFill/>
        </p:spPr>
        <p:txBody>
          <a:bodyPr wrap="square" rtlCol="0">
            <a:spAutoFit/>
          </a:bodyPr>
          <a:lstStyle/>
          <a:p>
            <a:pPr algn="ctr"/>
            <a:r>
              <a:rPr lang="en-US" sz="1200"/>
              <a:t>CARA Patent Pending © Generis Knowledge Management Inc 2013 All Rights Reserved</a:t>
            </a:r>
          </a:p>
        </p:txBody>
      </p:sp>
      <p:sp>
        <p:nvSpPr>
          <p:cNvPr id="19" name="Rounded Rectangle 18"/>
          <p:cNvSpPr/>
          <p:nvPr/>
        </p:nvSpPr>
        <p:spPr>
          <a:xfrm>
            <a:off x="2939143"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err="1">
                <a:solidFill>
                  <a:srgbClr val="000000"/>
                </a:solidFill>
              </a:rPr>
              <a:t>GxP / R&amp;D / eTMF</a:t>
            </a:r>
            <a:endParaRPr lang="en-US" sz="900" b="1">
              <a:solidFill>
                <a:srgbClr val="000000"/>
              </a:solidFill>
            </a:endParaRPr>
          </a:p>
          <a:p>
            <a:r>
              <a:rPr lang="en-US" sz="900">
                <a:solidFill>
                  <a:srgbClr val="000000"/>
                </a:solidFill>
              </a:rPr>
              <a:t>CARA contains all the configuration to replace all separate FirstDoc modules – no longer requiring separate licensing and functionality</a:t>
            </a:r>
          </a:p>
        </p:txBody>
      </p:sp>
      <p:sp>
        <p:nvSpPr>
          <p:cNvPr id="20" name="Rounded Rectangle 19"/>
          <p:cNvSpPr/>
          <p:nvPr/>
        </p:nvSpPr>
        <p:spPr>
          <a:xfrm>
            <a:off x="4783475"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Integrations</a:t>
            </a:r>
          </a:p>
          <a:p>
            <a:r>
              <a:rPr lang="en-US" sz="900">
                <a:solidFill>
                  <a:srgbClr val="000000"/>
                </a:solidFill>
              </a:rPr>
              <a:t>CARA offers integration with not only publishing tools (ISI, Liquent, DocPublisher) but also other systems such as CTMS, registration tracking and more</a:t>
            </a:r>
            <a:endParaRPr lang="en-US" sz="900">
              <a:solidFill>
                <a:schemeClr val="tx1"/>
              </a:solidFill>
            </a:endParaRPr>
          </a:p>
        </p:txBody>
      </p:sp>
      <p:sp>
        <p:nvSpPr>
          <p:cNvPr id="21" name="Rounded Rectangle 20"/>
          <p:cNvSpPr/>
          <p:nvPr/>
        </p:nvSpPr>
        <p:spPr>
          <a:xfrm>
            <a:off x="2939143"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Controlled Printing</a:t>
            </a:r>
          </a:p>
          <a:p>
            <a:r>
              <a:rPr lang="en-US" sz="900">
                <a:solidFill>
                  <a:schemeClr val="tx1"/>
                </a:solidFill>
              </a:rPr>
              <a:t>DocSecure provides the ability to create controlled prints including watermarking with dates, attributes and controlled print numbers</a:t>
            </a:r>
          </a:p>
        </p:txBody>
      </p:sp>
      <p:sp>
        <p:nvSpPr>
          <p:cNvPr id="22" name="Rounded Rectangle 21"/>
          <p:cNvSpPr/>
          <p:nvPr/>
        </p:nvSpPr>
        <p:spPr>
          <a:xfrm>
            <a:off x="4783475"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Product Dictionaries</a:t>
            </a:r>
          </a:p>
          <a:p>
            <a:r>
              <a:rPr lang="en-US" sz="900">
                <a:solidFill>
                  <a:schemeClr val="tx1"/>
                </a:solidFill>
              </a:rPr>
              <a:t>CARA dictionaries offer aliasing, abbreviations and multi-lingual capbilities.  Cabinets can be displayed based on product name, number or generic name</a:t>
            </a:r>
          </a:p>
        </p:txBody>
      </p:sp>
      <p:sp>
        <p:nvSpPr>
          <p:cNvPr id="23" name="Rounded Rectangle 22"/>
          <p:cNvSpPr/>
          <p:nvPr/>
        </p:nvSpPr>
        <p:spPr>
          <a:xfrm>
            <a:off x="2939143"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Purging &amp; Retention</a:t>
            </a:r>
          </a:p>
          <a:p>
            <a:r>
              <a:rPr lang="en-US" sz="900">
                <a:solidFill>
                  <a:schemeClr val="tx1"/>
                </a:solidFill>
              </a:rPr>
              <a:t>Rules for purging and retention can be configured in CARA based on Categories, including Legal Hold options.  Also can be used with EMC RPS module</a:t>
            </a:r>
          </a:p>
        </p:txBody>
      </p:sp>
      <p:sp>
        <p:nvSpPr>
          <p:cNvPr id="24" name="Rounded Rectangle 23"/>
          <p:cNvSpPr/>
          <p:nvPr/>
        </p:nvSpPr>
        <p:spPr>
          <a:xfrm>
            <a:off x="4783475"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Notifications</a:t>
            </a:r>
          </a:p>
          <a:p>
            <a:r>
              <a:rPr lang="en-US" sz="900">
                <a:solidFill>
                  <a:schemeClr val="tx1"/>
                </a:solidFill>
              </a:rPr>
              <a:t>Templates for notifications are fully configurable as to content, language, links, attribute replacement, logos, HTML and more</a:t>
            </a:r>
          </a:p>
        </p:txBody>
      </p:sp>
      <p:sp>
        <p:nvSpPr>
          <p:cNvPr id="25" name="Rounded Rectangle 24"/>
          <p:cNvSpPr/>
          <p:nvPr/>
        </p:nvSpPr>
        <p:spPr>
          <a:xfrm>
            <a:off x="2939143"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Workflows</a:t>
            </a:r>
          </a:p>
          <a:p>
            <a:r>
              <a:rPr lang="en-US" sz="900">
                <a:solidFill>
                  <a:schemeClr val="tx1"/>
                </a:solidFill>
              </a:rPr>
              <a:t>FirstDoc BPM workflows are replaced with out of the box BPM workflows or the CARA workflows which offers the ability to configure in-app</a:t>
            </a:r>
          </a:p>
        </p:txBody>
      </p:sp>
      <p:sp>
        <p:nvSpPr>
          <p:cNvPr id="26" name="Rounded Rectangle 25"/>
          <p:cNvSpPr/>
          <p:nvPr/>
        </p:nvSpPr>
        <p:spPr>
          <a:xfrm>
            <a:off x="4783475"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Lifecycles</a:t>
            </a:r>
          </a:p>
          <a:p>
            <a:r>
              <a:rPr lang="en-US" sz="900">
                <a:solidFill>
                  <a:srgbClr val="000000"/>
                </a:solidFill>
              </a:rPr>
              <a:t>Custom FirstDoc lifecycle functionality will be replaced by standard Documentum Lifecycles, allowing easier third party tool integration</a:t>
            </a:r>
          </a:p>
        </p:txBody>
      </p:sp>
      <p:sp>
        <p:nvSpPr>
          <p:cNvPr id="28" name="Rounded Rectangle 27"/>
          <p:cNvSpPr/>
          <p:nvPr/>
        </p:nvSpPr>
        <p:spPr>
          <a:xfrm>
            <a:off x="2939143"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Watermarking</a:t>
            </a:r>
          </a:p>
          <a:p>
            <a:r>
              <a:rPr lang="en-US" sz="900">
                <a:solidFill>
                  <a:srgbClr val="000000"/>
                </a:solidFill>
              </a:rPr>
              <a:t>DocSecure provides industry-strength watermarking and signature page manifestation, with configurations to replace built-in FirstDoc integrations</a:t>
            </a:r>
          </a:p>
        </p:txBody>
      </p:sp>
      <p:sp>
        <p:nvSpPr>
          <p:cNvPr id="41" name="Rounded Rectangle 40"/>
          <p:cNvSpPr/>
          <p:nvPr/>
        </p:nvSpPr>
        <p:spPr>
          <a:xfrm>
            <a:off x="4783475"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
        <p:nvSpPr>
          <p:cNvPr id="42" name="Rounded Rectangle 41"/>
          <p:cNvSpPr/>
          <p:nvPr/>
        </p:nvSpPr>
        <p:spPr>
          <a:xfrm>
            <a:off x="2939143"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SPX Portal</a:t>
            </a:r>
          </a:p>
          <a:p>
            <a:r>
              <a:rPr lang="en-US" sz="900">
                <a:solidFill>
                  <a:schemeClr val="tx1"/>
                </a:solidFill>
              </a:rPr>
              <a:t>Replace the SPX Portal with the CARA My WidgetSpace – avoid the need for an additional platform with the associated costs and technical issues</a:t>
            </a:r>
          </a:p>
        </p:txBody>
      </p:sp>
      <p:sp>
        <p:nvSpPr>
          <p:cNvPr id="43" name="Rounded Rectangle 42"/>
          <p:cNvSpPr/>
          <p:nvPr/>
        </p:nvSpPr>
        <p:spPr>
          <a:xfrm>
            <a:off x="4783475"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Tree>
    <p:extLst>
      <p:ext uri="{BB962C8B-B14F-4D97-AF65-F5344CB8AC3E}">
        <p14:creationId val="2544287200"/>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p:cNvSpPr txBox="1"/>
          <p:nvPr/>
        </p:nvSpPr>
        <p:spPr>
          <a:xfrm>
            <a:off x="2805945" y="685800"/>
            <a:ext cx="3823455" cy="1415772"/>
          </a:xfrm>
          <a:prstGeom prst="rect">
            <a:avLst/>
          </a:prstGeom>
          <a:noFill/>
        </p:spPr>
        <p:txBody>
          <a:bodyPr wrap="square" rtlCol="0">
            <a:spAutoFit/>
          </a:bodyPr>
          <a:lstStyle/>
          <a:p>
            <a:r>
              <a:rPr lang="en-US" sz="1400" b="1" spc="300"/>
              <a:t>STEPS</a:t>
            </a:r>
          </a:p>
          <a:p>
            <a:endParaRPr lang="en-US" sz="1200"/>
          </a:p>
          <a:p>
            <a:r>
              <a:rPr lang="en-US" sz="1200"/>
              <a:t>We work with the customer to identify any customizations made to FirstDoc which need to be migrated, as well as undertaking a mapping of the existing business rules (e.g. folder paths, security and so on) to CARA.  The major areas of upgrade involved are:</a:t>
            </a:r>
          </a:p>
        </p:txBody>
      </p:sp>
      <p:sp>
        <p:nvSpPr>
          <p:cNvPr id="4" name="Rectangle 63"/>
          <p:cNvSpPr>
            <a:spLocks noChangeArrowheads="1"/>
          </p:cNvSpPr>
          <p:nvPr/>
        </p:nvSpPr>
        <p:spPr bwMode="gray">
          <a:xfrm>
            <a:off x="0" y="0"/>
            <a:ext cx="6857999" cy="533400"/>
          </a:xfrm>
          <a:prstGeom prst="rect">
            <a:avLst/>
          </a:prstGeom>
          <a:solidFill>
            <a:schemeClr val="tx2">
              <a:lumMod val="75000"/>
            </a:schemeClr>
          </a:solidFill>
          <a:ln w="9525">
            <a:noFill/>
            <a:miter lim="800000"/>
          </a:ln>
          <a:effectLst/>
        </p:spPr>
        <p:txBody>
          <a:bodyPr wrap="none" lIns="91427" tIns="45713" rIns="91427" bIns="45713" anchor="ctr"/>
          <a:lstStyle/>
          <a:p>
            <a:pPr algn="r">
              <a:lnSpc>
                <a:spcPts val="3200"/>
              </a:lnSpc>
            </a:pPr>
            <a:r>
              <a:rPr lang="en-US" sz="2600" b="1">
                <a:solidFill>
                  <a:schemeClr val="bg1"/>
                </a:solidFill>
              </a:rPr>
              <a:t>Replace FirstDoc with CARA  </a:t>
            </a:r>
          </a:p>
        </p:txBody>
      </p:sp>
      <p:sp>
        <p:nvSpPr>
          <p:cNvPr id="3" name="TextBox 2"/>
          <p:cNvSpPr txBox="1"/>
          <p:nvPr/>
        </p:nvSpPr>
        <p:spPr>
          <a:xfrm>
            <a:off x="160868" y="1302020"/>
            <a:ext cx="2362200" cy="6724918"/>
          </a:xfrm>
          <a:prstGeom prst="rect">
            <a:avLst/>
          </a:prstGeom>
          <a:noFill/>
        </p:spPr>
        <p:txBody>
          <a:bodyPr wrap="square" rtlCol="0">
            <a:spAutoFit/>
          </a:bodyPr>
          <a:lstStyle/>
          <a:p>
            <a:r>
              <a:rPr lang="en-US" sz="1100" i="1">
                <a:solidFill>
                  <a:srgbClr val="002060"/>
                </a:solidFill>
              </a:rPr>
              <a:t>Generis has been providing leading-edge software for content management systems including Documentum, SharePoint, Alfresco and Oracle WebCenter since 1997.  The company has nearly 50 customers across industries from Government, through Life Sciences and Engineering to Media, Publishing and Financial.  The company is headquartered in Princeton, NJ, and has its principal development centers in Europe. </a:t>
            </a:r>
          </a:p>
          <a:p>
            <a:endParaRPr lang="en-US" sz="1100" i="1">
              <a:solidFill>
                <a:srgbClr val="002060"/>
              </a:solidFill>
            </a:endParaRPr>
          </a:p>
          <a:p>
            <a:r>
              <a:rPr lang="en-US" sz="1100" i="1">
                <a:solidFill>
                  <a:srgbClr val="002060"/>
                </a:solidFill>
              </a:rPr>
              <a:t>In addition to the market-leading CARA user interface, Generis also provides a number of add-on modules:</a:t>
            </a:r>
          </a:p>
          <a:p>
            <a:endParaRPr lang="en-US" sz="1100" i="1">
              <a:solidFill>
                <a:srgbClr val="002060"/>
              </a:solidFill>
            </a:endParaRPr>
          </a:p>
          <a:p>
            <a:r>
              <a:rPr lang="en-US" sz="1100" i="1">
                <a:solidFill>
                  <a:srgbClr val="002060"/>
                </a:solidFill>
              </a:rPr>
              <a:t>DocSecure to handle watermarking, eSignature, and controlled printing</a:t>
            </a:r>
          </a:p>
          <a:p>
            <a:endParaRPr lang="en-US" sz="1100" i="1">
              <a:solidFill>
                <a:srgbClr val="002060"/>
              </a:solidFill>
            </a:endParaRPr>
          </a:p>
          <a:p>
            <a:r>
              <a:rPr lang="en-US" sz="1100" i="1" err="1">
                <a:solidFill>
                  <a:srgbClr val="002060"/>
                </a:solidFill>
              </a:rPr>
              <a:t>DocPublisher to publish multiple PDFs into a single PDF</a:t>
            </a:r>
          </a:p>
          <a:p>
            <a:endParaRPr lang="en-US" sz="1100" i="1">
              <a:solidFill>
                <a:srgbClr val="002060"/>
              </a:solidFill>
            </a:endParaRPr>
          </a:p>
          <a:p>
            <a:r>
              <a:rPr lang="en-US" sz="1100" i="1" err="1">
                <a:solidFill>
                  <a:srgbClr val="002060"/>
                </a:solidFill>
              </a:rPr>
              <a:t>DocLink to provide hyperlinking support in Documentum </a:t>
            </a:r>
          </a:p>
          <a:p>
            <a:endParaRPr lang="en-US" sz="1100" i="1">
              <a:solidFill>
                <a:srgbClr val="002060"/>
              </a:solidFill>
            </a:endParaRPr>
          </a:p>
          <a:p>
            <a:r>
              <a:rPr lang="en-US" sz="1100" i="1">
                <a:solidFill>
                  <a:srgbClr val="002060"/>
                </a:solidFill>
              </a:rPr>
              <a:t>Migration Tools and BatchPorter for data migration and batch import / export</a:t>
            </a:r>
          </a:p>
          <a:p>
            <a:endParaRPr lang="en-US" sz="1100" i="1">
              <a:solidFill>
                <a:srgbClr val="002060"/>
              </a:solidFill>
            </a:endParaRPr>
          </a:p>
          <a:p>
            <a:r>
              <a:rPr lang="en-US" sz="1100" i="1">
                <a:solidFill>
                  <a:srgbClr val="002060"/>
                </a:solidFill>
              </a:rPr>
              <a:t>Integrations with publishing tools from CSC / ISI, Liquent.</a:t>
            </a:r>
          </a:p>
          <a:p>
            <a:endParaRPr lang="en-US" sz="1100" i="1">
              <a:solidFill>
                <a:srgbClr val="002060"/>
              </a:solidFill>
            </a:endParaRPr>
          </a:p>
          <a:p>
            <a:r>
              <a:rPr lang="en-US" sz="1100" i="1">
                <a:solidFill>
                  <a:srgbClr val="002060"/>
                </a:solidFill>
              </a:rPr>
              <a:t>Integrations with multiple CTMS systems and multiple registration tracking and submission tracking and management systems.</a:t>
            </a:r>
          </a:p>
          <a:p>
            <a:endParaRPr lang="en-US" sz="1200"/>
          </a:p>
          <a:p>
            <a:r>
              <a:rPr lang="en-US" sz="1200">
                <a:hlinkClick r:id="rId3"/>
              </a:rPr>
              <a:t>www.generiscorp.com</a:t>
            </a:r>
            <a:r>
              <a:rPr lang="en-US" sz="1200"/>
              <a:t> </a:t>
            </a:r>
          </a:p>
        </p:txBody>
      </p:sp>
      <p:pic>
        <p:nvPicPr>
          <p:cNvPr id="5" name="Picture 2" descr="C:\Documents and Settings\Toni\My Documents\Generis 0201\admin\logo-Jan2011\Generis 2011 logo.png"/>
          <p:cNvPicPr>
            <a:picLocks noChangeAspect="1" noChangeArrowheads="1"/>
          </p:cNvPicPr>
          <p:nvPr/>
        </p:nvPicPr>
        <p:blipFill>
          <a:blip r:embed="rId4"/>
          <a:srcRect t="10985" r="8463" b="24966"/>
          <a:stretch>
            <a:fillRect/>
          </a:stretch>
        </p:blipFill>
        <p:spPr bwMode="auto">
          <a:xfrm>
            <a:off x="228600" y="703719"/>
            <a:ext cx="1371600" cy="440663"/>
          </a:xfrm>
          <a:prstGeom prst="rect">
            <a:avLst/>
          </a:prstGeom>
          <a:noFill/>
        </p:spPr>
      </p:pic>
      <p:sp>
        <p:nvSpPr>
          <p:cNvPr id="27" name="TextBox 26"/>
          <p:cNvSpPr txBox="1"/>
          <p:nvPr/>
        </p:nvSpPr>
        <p:spPr>
          <a:xfrm>
            <a:off x="152400" y="8839200"/>
            <a:ext cx="6468532" cy="276999"/>
          </a:xfrm>
          <a:prstGeom prst="rect">
            <a:avLst/>
          </a:prstGeom>
          <a:noFill/>
        </p:spPr>
        <p:txBody>
          <a:bodyPr wrap="square" rtlCol="0">
            <a:spAutoFit/>
          </a:bodyPr>
          <a:lstStyle/>
          <a:p>
            <a:pPr algn="ctr"/>
            <a:r>
              <a:rPr lang="en-US" sz="1200"/>
              <a:t>CARA Patent Pending © Generis Knowledge Management Inc 2013 All Rights Reserved</a:t>
            </a:r>
          </a:p>
        </p:txBody>
      </p:sp>
      <p:sp>
        <p:nvSpPr>
          <p:cNvPr id="19" name="Rounded Rectangle 18"/>
          <p:cNvSpPr/>
          <p:nvPr/>
        </p:nvSpPr>
        <p:spPr>
          <a:xfrm>
            <a:off x="2939143"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err="1">
                <a:solidFill>
                  <a:srgbClr val="000000"/>
                </a:solidFill>
              </a:rPr>
              <a:t>GxP / R&amp;D / eTMF</a:t>
            </a:r>
            <a:endParaRPr lang="en-US" sz="900" b="1">
              <a:solidFill>
                <a:srgbClr val="000000"/>
              </a:solidFill>
            </a:endParaRPr>
          </a:p>
          <a:p>
            <a:r>
              <a:rPr lang="en-US" sz="900">
                <a:solidFill>
                  <a:srgbClr val="000000"/>
                </a:solidFill>
              </a:rPr>
              <a:t>CARA contains all the configuration to replace all separate FirstDoc modules – no longer requiring separate licensing and functionality</a:t>
            </a:r>
          </a:p>
        </p:txBody>
      </p:sp>
      <p:sp>
        <p:nvSpPr>
          <p:cNvPr id="20" name="Rounded Rectangle 19"/>
          <p:cNvSpPr/>
          <p:nvPr/>
        </p:nvSpPr>
        <p:spPr>
          <a:xfrm>
            <a:off x="4783475" y="7312458"/>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Integrations</a:t>
            </a:r>
          </a:p>
          <a:p>
            <a:r>
              <a:rPr lang="en-US" sz="900">
                <a:solidFill>
                  <a:srgbClr val="000000"/>
                </a:solidFill>
              </a:rPr>
              <a:t>CARA offers integration with not only publishing tools (ISI, Liquent, DocPublisher) but also other systems such as CTMS, registration tracking and more</a:t>
            </a:r>
            <a:endParaRPr lang="en-US" sz="900">
              <a:solidFill>
                <a:schemeClr val="tx1"/>
              </a:solidFill>
            </a:endParaRPr>
          </a:p>
        </p:txBody>
      </p:sp>
      <p:sp>
        <p:nvSpPr>
          <p:cNvPr id="21" name="Rounded Rectangle 20"/>
          <p:cNvSpPr/>
          <p:nvPr/>
        </p:nvSpPr>
        <p:spPr>
          <a:xfrm>
            <a:off x="2939143"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Controlled Printing</a:t>
            </a:r>
          </a:p>
          <a:p>
            <a:r>
              <a:rPr lang="en-US" sz="900">
                <a:solidFill>
                  <a:schemeClr val="tx1"/>
                </a:solidFill>
              </a:rPr>
              <a:t>DocSecure provides the ability to create controlled prints including watermarking with dates, attributes and controlled print numbers</a:t>
            </a:r>
          </a:p>
        </p:txBody>
      </p:sp>
      <p:sp>
        <p:nvSpPr>
          <p:cNvPr id="22" name="Rounded Rectangle 21"/>
          <p:cNvSpPr/>
          <p:nvPr/>
        </p:nvSpPr>
        <p:spPr>
          <a:xfrm>
            <a:off x="4783475" y="3247357"/>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Product Dictionaries</a:t>
            </a:r>
          </a:p>
          <a:p>
            <a:r>
              <a:rPr lang="en-US" sz="900">
                <a:solidFill>
                  <a:schemeClr val="tx1"/>
                </a:solidFill>
              </a:rPr>
              <a:t>CARA dictionaries offer aliasing, abbreviations and multi-lingual capbilities.  Cabinets can be displayed based on product name, number or generic name</a:t>
            </a:r>
          </a:p>
        </p:txBody>
      </p:sp>
      <p:sp>
        <p:nvSpPr>
          <p:cNvPr id="23" name="Rounded Rectangle 22"/>
          <p:cNvSpPr/>
          <p:nvPr/>
        </p:nvSpPr>
        <p:spPr>
          <a:xfrm>
            <a:off x="2939143"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Purging &amp; Retention</a:t>
            </a:r>
          </a:p>
          <a:p>
            <a:r>
              <a:rPr lang="en-US" sz="900">
                <a:solidFill>
                  <a:schemeClr val="tx1"/>
                </a:solidFill>
              </a:rPr>
              <a:t>Rules for purging and retention can be configured in CARA based on Categories, including Legal Hold options.  Also can be used with EMC RPS module</a:t>
            </a:r>
          </a:p>
        </p:txBody>
      </p:sp>
      <p:sp>
        <p:nvSpPr>
          <p:cNvPr id="24" name="Rounded Rectangle 23"/>
          <p:cNvSpPr/>
          <p:nvPr/>
        </p:nvSpPr>
        <p:spPr>
          <a:xfrm>
            <a:off x="4783475" y="4261810"/>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Notifications</a:t>
            </a:r>
          </a:p>
          <a:p>
            <a:r>
              <a:rPr lang="en-US" sz="900">
                <a:solidFill>
                  <a:schemeClr val="tx1"/>
                </a:solidFill>
              </a:rPr>
              <a:t>Templates for notifications are fully configurable as to content, language, links, attribute replacement, logos, HTML and more</a:t>
            </a:r>
          </a:p>
        </p:txBody>
      </p:sp>
      <p:sp>
        <p:nvSpPr>
          <p:cNvPr id="25" name="Rounded Rectangle 24"/>
          <p:cNvSpPr/>
          <p:nvPr/>
        </p:nvSpPr>
        <p:spPr>
          <a:xfrm>
            <a:off x="2939143"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Workflows</a:t>
            </a:r>
          </a:p>
          <a:p>
            <a:r>
              <a:rPr lang="en-US" sz="900">
                <a:solidFill>
                  <a:schemeClr val="tx1"/>
                </a:solidFill>
              </a:rPr>
              <a:t>FirstDoc BPM workflows are replaced with out of the box BPM workflows or the CARA workflows which offers the ability to configure in-app</a:t>
            </a:r>
          </a:p>
        </p:txBody>
      </p:sp>
      <p:sp>
        <p:nvSpPr>
          <p:cNvPr id="26" name="Rounded Rectangle 25"/>
          <p:cNvSpPr/>
          <p:nvPr/>
        </p:nvSpPr>
        <p:spPr>
          <a:xfrm>
            <a:off x="4783475" y="5276263"/>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Lifecycles</a:t>
            </a:r>
          </a:p>
          <a:p>
            <a:r>
              <a:rPr lang="en-US" sz="900">
                <a:solidFill>
                  <a:srgbClr val="000000"/>
                </a:solidFill>
              </a:rPr>
              <a:t>Custom FirstDoc lifecycle functionality will be replaced by standard Documentum Lifecycles, allowing easier third party tool integration</a:t>
            </a:r>
          </a:p>
        </p:txBody>
      </p:sp>
      <p:sp>
        <p:nvSpPr>
          <p:cNvPr id="28" name="Rounded Rectangle 27"/>
          <p:cNvSpPr/>
          <p:nvPr/>
        </p:nvSpPr>
        <p:spPr>
          <a:xfrm>
            <a:off x="2939143"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rgbClr val="000000"/>
                </a:solidFill>
              </a:rPr>
              <a:t>Watermarking</a:t>
            </a:r>
          </a:p>
          <a:p>
            <a:r>
              <a:rPr lang="en-US" sz="900">
                <a:solidFill>
                  <a:srgbClr val="000000"/>
                </a:solidFill>
              </a:rPr>
              <a:t>DocSecure provides industry-strength watermarking and signature page manifestation, with configurations to replace built-in FirstDoc integrations</a:t>
            </a:r>
          </a:p>
        </p:txBody>
      </p:sp>
      <p:sp>
        <p:nvSpPr>
          <p:cNvPr id="41" name="Rounded Rectangle 40"/>
          <p:cNvSpPr/>
          <p:nvPr/>
        </p:nvSpPr>
        <p:spPr>
          <a:xfrm>
            <a:off x="4783475" y="6298005"/>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
        <p:nvSpPr>
          <p:cNvPr id="42" name="Rounded Rectangle 41"/>
          <p:cNvSpPr/>
          <p:nvPr/>
        </p:nvSpPr>
        <p:spPr>
          <a:xfrm>
            <a:off x="2939143"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SPX Portal</a:t>
            </a:r>
          </a:p>
          <a:p>
            <a:r>
              <a:rPr lang="en-US" sz="900">
                <a:solidFill>
                  <a:schemeClr val="tx1"/>
                </a:solidFill>
              </a:rPr>
              <a:t>Replace the SPX Portal with the CARA My WidgetSpace – avoid the need for an additional platform with the associated costs and technical issues</a:t>
            </a:r>
          </a:p>
        </p:txBody>
      </p:sp>
      <p:sp>
        <p:nvSpPr>
          <p:cNvPr id="43" name="Rounded Rectangle 42"/>
          <p:cNvSpPr/>
          <p:nvPr/>
        </p:nvSpPr>
        <p:spPr>
          <a:xfrm>
            <a:off x="4783475" y="2232904"/>
            <a:ext cx="1778529" cy="944392"/>
          </a:xfrm>
          <a:prstGeom prst="roundRect">
            <a:avLst>
              <a:gd name="adj" fmla="val 11288"/>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Auditing</a:t>
            </a:r>
          </a:p>
          <a:p>
            <a:r>
              <a:rPr lang="en-US" sz="900">
                <a:solidFill>
                  <a:schemeClr val="tx1"/>
                </a:solidFill>
              </a:rPr>
              <a:t>CARA provides auditing for documents and configurations based on Categories.  Use the standard events or register custom events</a:t>
            </a:r>
          </a:p>
        </p:txBody>
      </p:sp>
    </p:spTree>
    <p:extLst>
      <p:ext uri="{BB962C8B-B14F-4D97-AF65-F5344CB8AC3E}">
        <p14:creationId val="3601353146"/>
      </p:ext>
    </p:extLst>
  </p:cSld>
  <p:clrMapOvr>
    <a:masterClrMapping/>
  </p:clrMapOvr>
  <p:transition/>
  <p:timing/>
</p:sld>
</file>

<file path=ppt/tags/tag1.xml><?xml version="1.0" encoding="utf-8"?>
<p:tagLst xmlns:p="http://schemas.openxmlformats.org/presentationml/2006/main">
  <p:tag name="AS_NET" val="10.0.0"/>
  <p:tag name="AS_OS" val="Microsoft Windows NT 10.0.26200.0"/>
  <p:tag name="AS_RELEASE_DATE" val="2026.03.14"/>
  <p:tag name="AS_TITLE" val="Aspose.Slides for .NET6"/>
  <p:tag name="AS_VERSION" val="26.3"/>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ppt/theme/theme2.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Letter Paper (8.5x11 in)</PresentationFormat>
  <Paragraphs>104</Paragraphs>
  <Slides>4</Slides>
  <Notes>2</Notes>
  <TotalTime>118</TotalTime>
  <HiddenSlides>1</HiddenSlides>
  <MMClips>0</MMClips>
  <ScaleCrop>0</ScaleCrop>
  <HeadingPairs>
    <vt:vector baseType="variant" size="6">
      <vt:variant>
        <vt:lpstr>Fonts Used</vt:lpstr>
      </vt:variant>
      <vt:variant>
        <vt:i4>2</vt:i4>
      </vt:variant>
      <vt:variant>
        <vt:lpstr>Theme</vt:lpstr>
      </vt:variant>
      <vt:variant>
        <vt:i4>1</vt:i4>
      </vt:variant>
      <vt:variant>
        <vt:lpstr>Slide Titles</vt:lpstr>
      </vt:variant>
      <vt:variant>
        <vt:i4>4</vt:i4>
      </vt:variant>
    </vt:vector>
  </HeadingPairs>
  <TitlesOfParts>
    <vt:vector baseType="lpstr" size="7">
      <vt:lpstr>Arial</vt:lpstr>
      <vt:lpstr>Calibri</vt:lpstr>
      <vt:lpstr>Office Theme</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26.0300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Presentation</dc:title>
  <dc:creator>James Kelleher</dc:creator>
  <cp:lastModifiedBy>Viktor Stupak</cp:lastModifiedBy>
  <cp:revision>21</cp:revision>
  <dcterms:created xsi:type="dcterms:W3CDTF">2013-06-17T22:27:58Z</dcterms:created>
  <dcterms:modified xsi:type="dcterms:W3CDTF">2026-05-28T20:31:05Z</dcterms:modified>
</cp:coreProperties>
</file>